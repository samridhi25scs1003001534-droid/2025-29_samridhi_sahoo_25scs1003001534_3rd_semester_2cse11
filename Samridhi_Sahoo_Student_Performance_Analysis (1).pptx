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685800" y="502920"/>
            <a:ext cx="411480" cy="457200"/>
          </a:xfrm>
          <a:prstGeom prst="homePlate">
            <a:avLst/>
          </a:prstGeom>
          <a:solidFill>
            <a:srgbClr val="81202C"/>
          </a:solidFill>
          <a:ln>
            <a:solidFill>
              <a:srgbClr val="18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1288" y="493776"/>
            <a:ext cx="1417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Georgia"/>
              </a:defRPr>
            </a:pPr>
            <a:r>
              <a:t>IILM</a:t>
            </a:r>
          </a:p>
          <a:p>
            <a:pPr>
              <a:defRPr sz="750">
                <a:solidFill>
                  <a:srgbClr val="DCE1EB"/>
                </a:solidFill>
                <a:latin typeface="Georgia"/>
              </a:defRPr>
            </a:pPr>
            <a:r>
              <a:t>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Student Performance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B4CDF5"/>
                </a:solidFill>
                <a:latin typeface="Aptos"/>
              </a:defRPr>
            </a:pPr>
            <a:r>
              <a:t>Data Analysis Internship Project</a:t>
            </a:r>
          </a:p>
          <a:p>
            <a:pPr>
              <a:spcAft>
                <a:spcPts val="900"/>
              </a:spcAft>
              <a:defRPr sz="1600">
                <a:solidFill>
                  <a:srgbClr val="D2DCEB"/>
                </a:solidFill>
                <a:latin typeface="Aptos"/>
              </a:defRPr>
            </a:pPr>
            <a:r>
              <a:t>SimplyLearn</a:t>
            </a:r>
          </a:p>
          <a:p>
            <a:pPr>
              <a:spcAft>
                <a:spcPts val="900"/>
              </a:spcAft>
              <a:defRPr sz="1600">
                <a:solidFill>
                  <a:srgbClr val="D2DCEB"/>
                </a:solidFill>
                <a:latin typeface="Aptos"/>
              </a:defRPr>
            </a:pPr>
            <a:r>
              <a:t>Role: Data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00600"/>
            <a:ext cx="7315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Samridhi Sahoo</a:t>
            </a:r>
          </a:p>
          <a:p>
            <a:pPr>
              <a:defRPr sz="1500">
                <a:solidFill>
                  <a:srgbClr val="CDD7E6"/>
                </a:solidFill>
                <a:latin typeface="Aptos"/>
              </a:defRPr>
            </a:pPr>
            <a:r>
              <a:t>Roll No. 25SCS1003001534</a:t>
            </a:r>
          </a:p>
          <a:p>
            <a:pPr>
              <a:defRPr sz="1400">
                <a:solidFill>
                  <a:srgbClr val="CDD7E6"/>
                </a:solidFill>
                <a:latin typeface="Aptos"/>
              </a:defRPr>
            </a:pPr>
            <a:r>
              <a:t>IILM University, Greater Noida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Pentagon 4"/>
          <p:cNvSpPr/>
          <p:nvPr/>
        </p:nvSpPr>
        <p:spPr>
          <a:xfrm>
            <a:off x="10195560" y="164592"/>
            <a:ext cx="411480" cy="457200"/>
          </a:xfrm>
          <a:prstGeom prst="homePlate">
            <a:avLst/>
          </a:prstGeom>
          <a:solidFill>
            <a:srgbClr val="81202C"/>
          </a:solidFill>
          <a:ln>
            <a:solidFill>
              <a:srgbClr val="18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71048" y="155448"/>
            <a:ext cx="1417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Georgia"/>
              </a:defRPr>
            </a:pPr>
            <a:r>
              <a:t>IILM</a:t>
            </a:r>
          </a:p>
          <a:p>
            <a:pPr>
              <a:defRPr sz="750">
                <a:solidFill>
                  <a:srgbClr val="DCE1EB"/>
                </a:solidFill>
                <a:latin typeface="Georgia"/>
              </a:defRPr>
            </a:pPr>
            <a:r>
              <a:t>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82745"/>
                </a:solidFill>
                <a:latin typeface="Aptos Display"/>
              </a:defRPr>
            </a:pPr>
            <a:r>
              <a:t>Understanding student performance through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Analyze student academic and behavioral data to identify performance patterns.</a:t>
            </a:r>
          </a:p>
          <a:p>
            <a:pPr>
              <a:spcAft>
                <a:spcPts val="11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Study relationships between marks, attendance, study hours and other relevant factors.</a:t>
            </a:r>
          </a:p>
          <a:p>
            <a:pPr>
              <a:spcAft>
                <a:spcPts val="11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Use data visualization to communicate trends clearly.</a:t>
            </a:r>
          </a:p>
          <a:p>
            <a:pPr>
              <a:spcAft>
                <a:spcPts val="11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Generate simple, actionable insights from the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828800"/>
            <a:ext cx="3749039" cy="1234440"/>
          </a:xfrm>
          <a:prstGeom prst="roundRect">
            <a:avLst/>
          </a:prstGeom>
          <a:solidFill>
            <a:srgbClr val="F6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1828800"/>
            <a:ext cx="73152" cy="1234440"/>
          </a:xfrm>
          <a:prstGeom prst="rect">
            <a:avLst/>
          </a:prstGeom>
          <a:solidFill>
            <a:srgbClr val="81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984248"/>
            <a:ext cx="3383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5"/>
                </a:solidFill>
                <a:latin typeface="Aptos Display"/>
              </a:defRPr>
            </a:pPr>
            <a:r>
              <a:t>Business Question</a:t>
            </a:r>
          </a:p>
          <a:p>
            <a:pPr>
              <a:spcBef>
                <a:spcPts val="700"/>
              </a:spcBef>
              <a:defRPr sz="1250">
                <a:solidFill>
                  <a:srgbClr val="232830"/>
                </a:solidFill>
                <a:latin typeface="Aptos"/>
              </a:defRPr>
            </a:pPr>
            <a:r>
              <a:t>Which factors are most associated with better student performance?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337560"/>
            <a:ext cx="3749039" cy="1234440"/>
          </a:xfrm>
          <a:prstGeom prst="roundRect">
            <a:avLst/>
          </a:prstGeom>
          <a:solidFill>
            <a:srgbClr val="F6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3337560"/>
            <a:ext cx="73152" cy="1234440"/>
          </a:xfrm>
          <a:prstGeom prst="rect">
            <a:avLst/>
          </a:prstGeom>
          <a:solidFill>
            <a:srgbClr val="335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3493008"/>
            <a:ext cx="3383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5"/>
                </a:solidFill>
                <a:latin typeface="Aptos Display"/>
              </a:defRPr>
            </a:pPr>
            <a:r>
              <a:t>Primary Output</a:t>
            </a:r>
          </a:p>
          <a:p>
            <a:pPr>
              <a:spcBef>
                <a:spcPts val="700"/>
              </a:spcBef>
              <a:defRPr sz="1250">
                <a:solidFill>
                  <a:srgbClr val="232830"/>
                </a:solidFill>
                <a:latin typeface="Aptos"/>
              </a:defRPr>
            </a:pPr>
            <a:r>
              <a:t>Clean dataset + visual analysis + insight 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846320"/>
            <a:ext cx="3749039" cy="914400"/>
          </a:xfrm>
          <a:prstGeom prst="roundRect">
            <a:avLst/>
          </a:prstGeom>
          <a:solidFill>
            <a:srgbClr val="F6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4846320"/>
            <a:ext cx="73152" cy="914400"/>
          </a:xfrm>
          <a:prstGeom prst="rect">
            <a:avLst/>
          </a:prstGeom>
          <a:solidFill>
            <a:srgbClr val="30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5001768"/>
            <a:ext cx="33832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5"/>
                </a:solidFill>
                <a:latin typeface="Aptos Display"/>
              </a:defRPr>
            </a:pPr>
            <a:r>
              <a:t>Project Type</a:t>
            </a:r>
          </a:p>
          <a:p>
            <a:pPr>
              <a:spcBef>
                <a:spcPts val="700"/>
              </a:spcBef>
              <a:defRPr sz="1250">
                <a:solidFill>
                  <a:srgbClr val="232830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  <a:latin typeface="Aptos"/>
              </a:defRPr>
            </a:pPr>
            <a:r>
              <a:t>Samridhi Sahoo  |  Data Analysis Internship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5" name="Pentagon 4"/>
          <p:cNvSpPr/>
          <p:nvPr/>
        </p:nvSpPr>
        <p:spPr>
          <a:xfrm>
            <a:off x="10195560" y="164592"/>
            <a:ext cx="411480" cy="457200"/>
          </a:xfrm>
          <a:prstGeom prst="homePlate">
            <a:avLst/>
          </a:prstGeom>
          <a:solidFill>
            <a:srgbClr val="81202C"/>
          </a:solidFill>
          <a:ln>
            <a:solidFill>
              <a:srgbClr val="18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71048" y="155448"/>
            <a:ext cx="1417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Georgia"/>
              </a:defRPr>
            </a:pPr>
            <a:r>
              <a:t>IILM</a:t>
            </a:r>
          </a:p>
          <a:p>
            <a:pPr>
              <a:defRPr sz="750">
                <a:solidFill>
                  <a:srgbClr val="DCE1EB"/>
                </a:solidFill>
                <a:latin typeface="Georgia"/>
              </a:defRPr>
            </a:pPr>
            <a:r>
              <a:t>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82745"/>
                </a:solidFill>
                <a:latin typeface="Aptos Display"/>
              </a:defRPr>
            </a:pPr>
            <a:r>
              <a:t>What the project aims to achieve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120640" cy="1554480"/>
          </a:xfrm>
          <a:prstGeom prst="roundRect">
            <a:avLst/>
          </a:prstGeom>
          <a:solidFill>
            <a:srgbClr val="F6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73152" cy="1554480"/>
          </a:xfrm>
          <a:prstGeom prst="rect">
            <a:avLst/>
          </a:prstGeom>
          <a:solidFill>
            <a:srgbClr val="335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38528"/>
            <a:ext cx="4754879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5"/>
                </a:solidFill>
                <a:latin typeface="Aptos Display"/>
              </a:defRPr>
            </a:pPr>
            <a:r>
              <a:t>Clean Data</a:t>
            </a:r>
          </a:p>
          <a:p>
            <a:pPr>
              <a:spcBef>
                <a:spcPts val="700"/>
              </a:spcBef>
              <a:defRPr sz="1250">
                <a:solidFill>
                  <a:srgbClr val="232830"/>
                </a:solidFill>
                <a:latin typeface="Aptos"/>
              </a:defRPr>
            </a:pPr>
            <a:r>
              <a:t>Handle missing values, duplicates and inconsistent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38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538C"/>
                </a:solidFill>
              </a:defRPr>
            </a:pPr>
            <a: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5120640" cy="1554480"/>
          </a:xfrm>
          <a:prstGeom prst="roundRect">
            <a:avLst/>
          </a:prstGeom>
          <a:solidFill>
            <a:srgbClr val="F6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83080"/>
            <a:ext cx="73152" cy="1554480"/>
          </a:xfrm>
          <a:prstGeom prst="rect">
            <a:avLst/>
          </a:prstGeom>
          <a:solidFill>
            <a:srgbClr val="81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938528"/>
            <a:ext cx="4754879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5"/>
                </a:solidFill>
                <a:latin typeface="Aptos Display"/>
              </a:defRPr>
            </a:pPr>
            <a:r>
              <a:t>Explore</a:t>
            </a:r>
          </a:p>
          <a:p>
            <a:pPr>
              <a:spcBef>
                <a:spcPts val="700"/>
              </a:spcBef>
              <a:defRPr sz="1250">
                <a:solidFill>
                  <a:srgbClr val="232830"/>
                </a:solidFill>
                <a:latin typeface="Aptos"/>
              </a:defRPr>
            </a:pPr>
            <a:r>
              <a:t>Understand distributions, averages and performance patterns.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38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202C"/>
                </a:solidFill>
              </a:defRPr>
            </a:pPr>
            <a: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5120640" cy="1554480"/>
          </a:xfrm>
          <a:prstGeom prst="roundRect">
            <a:avLst/>
          </a:prstGeom>
          <a:solidFill>
            <a:srgbClr val="F6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749039"/>
            <a:ext cx="73152" cy="1554480"/>
          </a:xfrm>
          <a:prstGeom prst="rect">
            <a:avLst/>
          </a:prstGeom>
          <a:solidFill>
            <a:srgbClr val="30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904487"/>
            <a:ext cx="4754879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5"/>
                </a:solidFill>
                <a:latin typeface="Aptos Display"/>
              </a:defRPr>
            </a:pPr>
            <a:r>
              <a:t>Compare</a:t>
            </a:r>
          </a:p>
          <a:p>
            <a:pPr>
              <a:spcBef>
                <a:spcPts val="700"/>
              </a:spcBef>
              <a:defRPr sz="1250">
                <a:solidFill>
                  <a:srgbClr val="232830"/>
                </a:solidFill>
                <a:latin typeface="Aptos"/>
              </a:defRPr>
            </a:pPr>
            <a:r>
              <a:t>Compare performance across attendance and study-related factors.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904487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0805B"/>
                </a:solidFill>
              </a:defRPr>
            </a:pPr>
            <a: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49039"/>
            <a:ext cx="5120640" cy="1554480"/>
          </a:xfrm>
          <a:prstGeom prst="roundRect">
            <a:avLst/>
          </a:prstGeom>
          <a:solidFill>
            <a:srgbClr val="F6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749039"/>
            <a:ext cx="73152" cy="1554480"/>
          </a:xfrm>
          <a:prstGeom prst="rect">
            <a:avLst/>
          </a:prstGeom>
          <a:solidFill>
            <a:srgbClr val="335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904487"/>
            <a:ext cx="4754879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5"/>
                </a:solidFill>
                <a:latin typeface="Aptos Display"/>
              </a:defRPr>
            </a:pPr>
            <a:r>
              <a:t>Visualize</a:t>
            </a:r>
          </a:p>
          <a:p>
            <a:pPr>
              <a:spcBef>
                <a:spcPts val="700"/>
              </a:spcBef>
              <a:defRPr sz="1250">
                <a:solidFill>
                  <a:srgbClr val="232830"/>
                </a:solidFill>
                <a:latin typeface="Aptos"/>
              </a:defRPr>
            </a:pPr>
            <a:r>
              <a:t>Create charts that make findings easy to understand.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904487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538C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  <a:latin typeface="Aptos"/>
              </a:defRPr>
            </a:pPr>
            <a:r>
              <a:t>Samridhi Sahoo  |  Data Analysis Internship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 &amp; Methodology</a:t>
            </a:r>
          </a:p>
        </p:txBody>
      </p:sp>
      <p:sp>
        <p:nvSpPr>
          <p:cNvPr id="5" name="Pentagon 4"/>
          <p:cNvSpPr/>
          <p:nvPr/>
        </p:nvSpPr>
        <p:spPr>
          <a:xfrm>
            <a:off x="10195560" y="164592"/>
            <a:ext cx="411480" cy="457200"/>
          </a:xfrm>
          <a:prstGeom prst="homePlate">
            <a:avLst/>
          </a:prstGeom>
          <a:solidFill>
            <a:srgbClr val="81202C"/>
          </a:solidFill>
          <a:ln>
            <a:solidFill>
              <a:srgbClr val="18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71048" y="155448"/>
            <a:ext cx="1417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Georgia"/>
              </a:defRPr>
            </a:pPr>
            <a:r>
              <a:t>IILM</a:t>
            </a:r>
          </a:p>
          <a:p>
            <a:pPr>
              <a:defRPr sz="750">
                <a:solidFill>
                  <a:srgbClr val="DCE1EB"/>
                </a:solidFill>
                <a:latin typeface="Georgia"/>
              </a:defRPr>
            </a:pPr>
            <a:r>
              <a:t>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82745"/>
                </a:solidFill>
                <a:latin typeface="Aptos Display"/>
              </a:defRPr>
            </a:pPr>
            <a:r>
              <a:t>Analysis workflow</a:t>
            </a:r>
          </a:p>
        </p:txBody>
      </p:sp>
      <p:sp>
        <p:nvSpPr>
          <p:cNvPr id="8" name="Oval 7"/>
          <p:cNvSpPr/>
          <p:nvPr/>
        </p:nvSpPr>
        <p:spPr>
          <a:xfrm>
            <a:off x="1252728" y="1828800"/>
            <a:ext cx="594360" cy="594360"/>
          </a:xfrm>
          <a:prstGeom prst="ellipse">
            <a:avLst/>
          </a:prstGeom>
          <a:solidFill>
            <a:srgbClr val="335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1956816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82745"/>
                </a:solidFill>
              </a:defRPr>
            </a:pPr>
            <a: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646E7D"/>
                </a:solidFill>
              </a:defRPr>
            </a:pPr>
            <a:r>
              <a:t>Student performance dataset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20240" y="2121408"/>
            <a:ext cx="841248" cy="0"/>
          </a:xfrm>
          <a:prstGeom prst="line">
            <a:avLst/>
          </a:prstGeom>
          <a:ln w="25400">
            <a:solidFill>
              <a:srgbClr val="AAB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57016" y="1828800"/>
            <a:ext cx="594360" cy="594360"/>
          </a:xfrm>
          <a:prstGeom prst="ellipse">
            <a:avLst/>
          </a:prstGeom>
          <a:solidFill>
            <a:srgbClr val="335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1956816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269748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82745"/>
                </a:solidFill>
              </a:defRPr>
            </a:pPr>
            <a: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324612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646E7D"/>
                </a:solidFill>
              </a:defRPr>
            </a:pPr>
            <a:r>
              <a:t>Missing values, duplicates and formatting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24528" y="2121408"/>
            <a:ext cx="841248" cy="0"/>
          </a:xfrm>
          <a:prstGeom prst="line">
            <a:avLst/>
          </a:prstGeom>
          <a:ln w="25400">
            <a:solidFill>
              <a:srgbClr val="AAB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861304" y="1828800"/>
            <a:ext cx="594360" cy="594360"/>
          </a:xfrm>
          <a:prstGeom prst="ellipse">
            <a:avLst/>
          </a:prstGeom>
          <a:solidFill>
            <a:srgbClr val="335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61304" y="1956816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6" y="269748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82745"/>
                </a:solidFill>
              </a:defRPr>
            </a:pPr>
            <a:r>
              <a:t>Explore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324612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646E7D"/>
                </a:solidFill>
              </a:defRPr>
            </a:pPr>
            <a:r>
              <a:t>Descriptive statistics and correlations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28816" y="2121408"/>
            <a:ext cx="841248" cy="0"/>
          </a:xfrm>
          <a:prstGeom prst="line">
            <a:avLst/>
          </a:prstGeom>
          <a:ln w="25400">
            <a:solidFill>
              <a:srgbClr val="AAB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165592" y="1828800"/>
            <a:ext cx="594360" cy="594360"/>
          </a:xfrm>
          <a:prstGeom prst="ellipse">
            <a:avLst/>
          </a:prstGeom>
          <a:solidFill>
            <a:srgbClr val="335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5592" y="1956816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8664" y="269748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82745"/>
                </a:solidFill>
              </a:defRPr>
            </a:pPr>
            <a:r>
              <a:t>Visualize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324612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646E7D"/>
                </a:solidFill>
              </a:defRPr>
            </a:pPr>
            <a:r>
              <a:t>Bar charts, scatter plots and distributions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33104" y="2121408"/>
            <a:ext cx="841248" cy="0"/>
          </a:xfrm>
          <a:prstGeom prst="line">
            <a:avLst/>
          </a:prstGeom>
          <a:ln w="25400">
            <a:solidFill>
              <a:srgbClr val="AAB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469880" y="1828800"/>
            <a:ext cx="594360" cy="594360"/>
          </a:xfrm>
          <a:prstGeom prst="ellipse">
            <a:avLst/>
          </a:prstGeom>
          <a:solidFill>
            <a:srgbClr val="335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69880" y="1956816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269748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82745"/>
                </a:solidFill>
              </a:defRPr>
            </a:pPr>
            <a:r>
              <a:t>Interpret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324612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646E7D"/>
                </a:solidFill>
              </a:defRPr>
            </a:pPr>
            <a:r>
              <a:t>Identify meaningful patterns and insights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  <a:latin typeface="Aptos"/>
              </a:defRPr>
            </a:pPr>
            <a:r>
              <a:t>Samridhi Sahoo  |  Data Analysis Internship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5" name="Pentagon 4"/>
          <p:cNvSpPr/>
          <p:nvPr/>
        </p:nvSpPr>
        <p:spPr>
          <a:xfrm>
            <a:off x="10195560" y="164592"/>
            <a:ext cx="411480" cy="457200"/>
          </a:xfrm>
          <a:prstGeom prst="homePlate">
            <a:avLst/>
          </a:prstGeom>
          <a:solidFill>
            <a:srgbClr val="81202C"/>
          </a:solidFill>
          <a:ln>
            <a:solidFill>
              <a:srgbClr val="18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71048" y="155448"/>
            <a:ext cx="1417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Georgia"/>
              </a:defRPr>
            </a:pPr>
            <a:r>
              <a:t>IILM</a:t>
            </a:r>
          </a:p>
          <a:p>
            <a:pPr>
              <a:defRPr sz="750">
                <a:solidFill>
                  <a:srgbClr val="DCE1EB"/>
                </a:solidFill>
                <a:latin typeface="Georgia"/>
              </a:defRPr>
            </a:pPr>
            <a:r>
              <a:t>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82745"/>
                </a:solidFill>
                <a:latin typeface="Aptos Display"/>
              </a:defRPr>
            </a:pPr>
            <a:r>
              <a:t>Tools used for the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10607040" cy="804672"/>
          </a:xfrm>
          <a:prstGeom prst="roundRect">
            <a:avLst/>
          </a:prstGeom>
          <a:solidFill>
            <a:srgbClr val="F6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45920"/>
            <a:ext cx="73152" cy="804672"/>
          </a:xfrm>
          <a:prstGeom prst="rect">
            <a:avLst/>
          </a:prstGeom>
          <a:solidFill>
            <a:srgbClr val="335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801368"/>
            <a:ext cx="1024128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5"/>
                </a:solidFill>
                <a:latin typeface="Aptos Display"/>
              </a:defRPr>
            </a:pPr>
            <a:r>
              <a:t>Python</a:t>
            </a:r>
          </a:p>
          <a:p>
            <a:pPr>
              <a:spcBef>
                <a:spcPts val="700"/>
              </a:spcBef>
              <a:defRPr sz="1250">
                <a:solidFill>
                  <a:srgbClr val="232830"/>
                </a:solidFill>
                <a:latin typeface="Aptos"/>
              </a:defRPr>
            </a:pPr>
            <a:r>
              <a:t>Data analysis and automation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97480"/>
            <a:ext cx="10607040" cy="804672"/>
          </a:xfrm>
          <a:prstGeom prst="roundRect">
            <a:avLst/>
          </a:prstGeom>
          <a:solidFill>
            <a:srgbClr val="F6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73152" cy="804672"/>
          </a:xfrm>
          <a:prstGeom prst="rect">
            <a:avLst/>
          </a:prstGeom>
          <a:solidFill>
            <a:srgbClr val="81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852928"/>
            <a:ext cx="1024128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5"/>
                </a:solidFill>
                <a:latin typeface="Aptos Display"/>
              </a:defRPr>
            </a:pPr>
            <a:r>
              <a:t>Visualization</a:t>
            </a:r>
          </a:p>
          <a:p>
            <a:pPr>
              <a:spcBef>
                <a:spcPts val="700"/>
              </a:spcBef>
              <a:defRPr sz="1250">
                <a:solidFill>
                  <a:srgbClr val="232830"/>
                </a:solidFill>
                <a:latin typeface="Aptos"/>
              </a:defRPr>
            </a:pPr>
            <a:r>
              <a:t>Charts and exploratory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49039"/>
            <a:ext cx="10607040" cy="804672"/>
          </a:xfrm>
          <a:prstGeom prst="roundRect">
            <a:avLst/>
          </a:prstGeom>
          <a:solidFill>
            <a:srgbClr val="F6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749039"/>
            <a:ext cx="73152" cy="804672"/>
          </a:xfrm>
          <a:prstGeom prst="rect">
            <a:avLst/>
          </a:prstGeom>
          <a:solidFill>
            <a:srgbClr val="30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904487"/>
            <a:ext cx="1024128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5"/>
                </a:solidFill>
                <a:latin typeface="Aptos Display"/>
              </a:defRPr>
            </a:pPr>
            <a:r>
              <a:t>Jupyter Notebook</a:t>
            </a:r>
          </a:p>
          <a:p>
            <a:pPr>
              <a:spcBef>
                <a:spcPts val="700"/>
              </a:spcBef>
              <a:defRPr sz="1250">
                <a:solidFill>
                  <a:srgbClr val="232830"/>
                </a:solidFill>
                <a:latin typeface="Aptos"/>
              </a:defRPr>
            </a:pPr>
            <a:r>
              <a:t>Interactive analysis environment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800600"/>
            <a:ext cx="10607040" cy="804672"/>
          </a:xfrm>
          <a:prstGeom prst="roundRect">
            <a:avLst/>
          </a:prstGeom>
          <a:solidFill>
            <a:srgbClr val="F6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0600"/>
            <a:ext cx="73152" cy="804672"/>
          </a:xfrm>
          <a:prstGeom prst="rect">
            <a:avLst/>
          </a:prstGeom>
          <a:solidFill>
            <a:srgbClr val="335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4956048"/>
            <a:ext cx="1024128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5"/>
                </a:solidFill>
                <a:latin typeface="Aptos Display"/>
              </a:defRPr>
            </a:pPr>
            <a:r>
              <a:t>Excel / CSV</a:t>
            </a:r>
          </a:p>
          <a:p>
            <a:pPr>
              <a:spcBef>
                <a:spcPts val="700"/>
              </a:spcBef>
              <a:defRPr sz="1250">
                <a:solidFill>
                  <a:srgbClr val="232830"/>
                </a:solidFill>
                <a:latin typeface="Aptos"/>
              </a:defRPr>
            </a:pPr>
            <a:r>
              <a:t>Dataset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  <a:latin typeface="Aptos"/>
              </a:defRPr>
            </a:pPr>
            <a:r>
              <a:t>Samridhi Sahoo  |  Data Analysis Internship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Key Analysis Areas</a:t>
            </a:r>
          </a:p>
        </p:txBody>
      </p:sp>
      <p:sp>
        <p:nvSpPr>
          <p:cNvPr id="5" name="Pentagon 4"/>
          <p:cNvSpPr/>
          <p:nvPr/>
        </p:nvSpPr>
        <p:spPr>
          <a:xfrm>
            <a:off x="10195560" y="164592"/>
            <a:ext cx="411480" cy="457200"/>
          </a:xfrm>
          <a:prstGeom prst="homePlate">
            <a:avLst/>
          </a:prstGeom>
          <a:solidFill>
            <a:srgbClr val="81202C"/>
          </a:solidFill>
          <a:ln>
            <a:solidFill>
              <a:srgbClr val="18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71048" y="155448"/>
            <a:ext cx="1417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Georgia"/>
              </a:defRPr>
            </a:pPr>
            <a:r>
              <a:t>IILM</a:t>
            </a:r>
          </a:p>
          <a:p>
            <a:pPr>
              <a:defRPr sz="750">
                <a:solidFill>
                  <a:srgbClr val="DCE1EB"/>
                </a:solidFill>
                <a:latin typeface="Georgia"/>
              </a:defRPr>
            </a:pPr>
            <a:r>
              <a:t>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82745"/>
                </a:solidFill>
                <a:latin typeface="Aptos Display"/>
              </a:defRPr>
            </a:pPr>
            <a:r>
              <a:t>What will be explored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20640" cy="1508760"/>
          </a:xfrm>
          <a:prstGeom prst="roundRect">
            <a:avLst/>
          </a:prstGeom>
          <a:solidFill>
            <a:srgbClr val="F6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508760"/>
          </a:xfrm>
          <a:prstGeom prst="rect">
            <a:avLst/>
          </a:prstGeom>
          <a:solidFill>
            <a:srgbClr val="335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47548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5"/>
                </a:solidFill>
                <a:latin typeface="Aptos Display"/>
              </a:defRPr>
            </a:pPr>
            <a:r>
              <a:t>Attendance vs Marks</a:t>
            </a:r>
          </a:p>
          <a:p>
            <a:pPr>
              <a:spcBef>
                <a:spcPts val="700"/>
              </a:spcBef>
              <a:defRPr sz="1250">
                <a:solidFill>
                  <a:srgbClr val="232830"/>
                </a:solidFill>
                <a:latin typeface="Aptos"/>
              </a:defRPr>
            </a:pPr>
            <a:r>
              <a:t>Check whether higher attendance is associated with better scores.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120640" cy="1508760"/>
          </a:xfrm>
          <a:prstGeom prst="roundRect">
            <a:avLst/>
          </a:prstGeom>
          <a:solidFill>
            <a:srgbClr val="F6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73152" cy="1508760"/>
          </a:xfrm>
          <a:prstGeom prst="rect">
            <a:avLst/>
          </a:prstGeom>
          <a:solidFill>
            <a:srgbClr val="81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938528"/>
            <a:ext cx="47548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5"/>
                </a:solidFill>
                <a:latin typeface="Aptos Display"/>
              </a:defRPr>
            </a:pPr>
            <a:r>
              <a:t>Study Hours vs Marks</a:t>
            </a:r>
          </a:p>
          <a:p>
            <a:pPr>
              <a:spcBef>
                <a:spcPts val="700"/>
              </a:spcBef>
              <a:defRPr sz="1250">
                <a:solidFill>
                  <a:srgbClr val="232830"/>
                </a:solidFill>
                <a:latin typeface="Aptos"/>
              </a:defRPr>
            </a:pPr>
            <a:r>
              <a:t>Explore the relationship between study time and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120640" cy="1508760"/>
          </a:xfrm>
          <a:prstGeom prst="roundRect">
            <a:avLst/>
          </a:prstGeom>
          <a:solidFill>
            <a:srgbClr val="F6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73152" cy="1508760"/>
          </a:xfrm>
          <a:prstGeom prst="rect">
            <a:avLst/>
          </a:prstGeom>
          <a:solidFill>
            <a:srgbClr val="30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813048"/>
            <a:ext cx="47548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5"/>
                </a:solidFill>
                <a:latin typeface="Aptos Display"/>
              </a:defRPr>
            </a:pPr>
            <a:r>
              <a:t>Score Distribution</a:t>
            </a:r>
          </a:p>
          <a:p>
            <a:pPr>
              <a:spcBef>
                <a:spcPts val="700"/>
              </a:spcBef>
              <a:defRPr sz="1250">
                <a:solidFill>
                  <a:srgbClr val="232830"/>
                </a:solidFill>
                <a:latin typeface="Aptos"/>
              </a:defRPr>
            </a:pPr>
            <a:r>
              <a:t>Understand average, highest, lowest and spread of scores.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57600"/>
            <a:ext cx="5120640" cy="1508760"/>
          </a:xfrm>
          <a:prstGeom prst="roundRect">
            <a:avLst/>
          </a:prstGeom>
          <a:solidFill>
            <a:srgbClr val="F6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657600"/>
            <a:ext cx="73152" cy="1508760"/>
          </a:xfrm>
          <a:prstGeom prst="rect">
            <a:avLst/>
          </a:prstGeom>
          <a:solidFill>
            <a:srgbClr val="335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3813048"/>
            <a:ext cx="47548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5"/>
                </a:solidFill>
                <a:latin typeface="Aptos Display"/>
              </a:defRPr>
            </a:pPr>
            <a:r>
              <a:t>Subject / Group Comparison</a:t>
            </a:r>
          </a:p>
          <a:p>
            <a:pPr>
              <a:spcBef>
                <a:spcPts val="700"/>
              </a:spcBef>
              <a:defRPr sz="1250">
                <a:solidFill>
                  <a:srgbClr val="232830"/>
                </a:solidFill>
                <a:latin typeface="Aptos"/>
              </a:defRPr>
            </a:pPr>
            <a:r>
              <a:t>Compare performance across subjects or student groups.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  <a:latin typeface="Aptos"/>
              </a:defRPr>
            </a:pPr>
            <a:r>
              <a:t>Samridhi Sahoo  |  Data Analysis Internship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Expected Insights</a:t>
            </a:r>
          </a:p>
        </p:txBody>
      </p:sp>
      <p:sp>
        <p:nvSpPr>
          <p:cNvPr id="5" name="Pentagon 4"/>
          <p:cNvSpPr/>
          <p:nvPr/>
        </p:nvSpPr>
        <p:spPr>
          <a:xfrm>
            <a:off x="10195560" y="164592"/>
            <a:ext cx="411480" cy="457200"/>
          </a:xfrm>
          <a:prstGeom prst="homePlate">
            <a:avLst/>
          </a:prstGeom>
          <a:solidFill>
            <a:srgbClr val="81202C"/>
          </a:solidFill>
          <a:ln>
            <a:solidFill>
              <a:srgbClr val="18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71048" y="155448"/>
            <a:ext cx="1417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Georgia"/>
              </a:defRPr>
            </a:pPr>
            <a:r>
              <a:t>IILM</a:t>
            </a:r>
          </a:p>
          <a:p>
            <a:pPr>
              <a:defRPr sz="750">
                <a:solidFill>
                  <a:srgbClr val="DCE1EB"/>
                </a:solidFill>
                <a:latin typeface="Georgia"/>
              </a:defRPr>
            </a:pPr>
            <a:r>
              <a:t>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82745"/>
                </a:solidFill>
                <a:latin typeface="Aptos Display"/>
              </a:defRPr>
            </a:pPr>
            <a:r>
              <a:t>What the analysis can 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6675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Whether attendance shows a meaningful relationship with academic performance.</a:t>
            </a:r>
          </a:p>
          <a:p>
            <a:pPr>
              <a:spcAft>
                <a:spcPts val="11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Whether study time is associated with higher or lower scores.</a:t>
            </a:r>
          </a:p>
          <a:p>
            <a:pPr>
              <a:spcAft>
                <a:spcPts val="11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Which groups or subjects show stronger or weaker performance.</a:t>
            </a:r>
          </a:p>
          <a:p>
            <a:pPr>
              <a:spcAft>
                <a:spcPts val="11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Where unusual or outlier performance patterns appear.</a:t>
            </a:r>
          </a:p>
          <a:p>
            <a:pPr>
              <a:spcAft>
                <a:spcPts val="11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A concise evidence-based summary of the main findings.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828800"/>
            <a:ext cx="3429000" cy="1828800"/>
          </a:xfrm>
          <a:prstGeom prst="roundRect">
            <a:avLst/>
          </a:prstGeom>
          <a:solidFill>
            <a:srgbClr val="F6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1828800"/>
            <a:ext cx="73152" cy="1828800"/>
          </a:xfrm>
          <a:prstGeom prst="rect">
            <a:avLst/>
          </a:prstGeom>
          <a:solidFill>
            <a:srgbClr val="81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1984248"/>
            <a:ext cx="306324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5"/>
                </a:solidFill>
                <a:latin typeface="Aptos Display"/>
              </a:defRPr>
            </a:pPr>
            <a:r>
              <a:t>Final Deliverable</a:t>
            </a:r>
          </a:p>
          <a:p>
            <a:pPr>
              <a:spcBef>
                <a:spcPts val="700"/>
              </a:spcBef>
              <a:defRPr sz="1250">
                <a:solidFill>
                  <a:srgbClr val="232830"/>
                </a:solidFill>
                <a:latin typeface="Aptos"/>
              </a:defRPr>
            </a:pPr>
            <a:r>
              <a:t>A clean analysis report with charts, observations and recommendations.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069080"/>
            <a:ext cx="3429000" cy="1325880"/>
          </a:xfrm>
          <a:prstGeom prst="roundRect">
            <a:avLst/>
          </a:prstGeom>
          <a:solidFill>
            <a:srgbClr val="F6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4069080"/>
            <a:ext cx="73152" cy="1325880"/>
          </a:xfrm>
          <a:prstGeom prst="rect">
            <a:avLst/>
          </a:prstGeom>
          <a:solidFill>
            <a:srgbClr val="30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9288" y="4224528"/>
            <a:ext cx="3063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5"/>
                </a:solidFill>
                <a:latin typeface="Aptos Display"/>
              </a:defRPr>
            </a:pPr>
            <a:r>
              <a:t>Impact</a:t>
            </a:r>
          </a:p>
          <a:p>
            <a:pPr>
              <a:spcBef>
                <a:spcPts val="700"/>
              </a:spcBef>
              <a:defRPr sz="1250">
                <a:solidFill>
                  <a:srgbClr val="232830"/>
                </a:solidFill>
                <a:latin typeface="Aptos"/>
              </a:defRPr>
            </a:pPr>
            <a:r>
              <a:t>Turns raw student records into understandable insights.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  <a:latin typeface="Aptos"/>
              </a:defRPr>
            </a:pPr>
            <a:r>
              <a:t>Samridhi Sahoo  |  Data Analysis Internship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1498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E1E8F2"/>
                </a:solidFill>
                <a:latin typeface="Aptos"/>
              </a:defRPr>
            </a:pPr>
            <a:r>
              <a:t>Student Performance Analysis demonstrates how basic data analytics can transform academic records into clear patterns, visual insights and practical observations.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Samridhi Sahoo</a:t>
            </a:r>
          </a:p>
          <a:p>
            <a:pPr>
              <a:defRPr sz="1400">
                <a:solidFill>
                  <a:srgbClr val="C3D0E4"/>
                </a:solidFill>
              </a:defRPr>
            </a:pPr>
            <a:r>
              <a:t>Data Analyst Intern  |  SimplyLearn</a:t>
            </a:r>
          </a:p>
        </p:txBody>
      </p:sp>
      <p:sp>
        <p:nvSpPr>
          <p:cNvPr id="6" name="Pentagon 5"/>
          <p:cNvSpPr/>
          <p:nvPr/>
        </p:nvSpPr>
        <p:spPr>
          <a:xfrm>
            <a:off x="9646920" y="4663440"/>
            <a:ext cx="411480" cy="457200"/>
          </a:xfrm>
          <a:prstGeom prst="homePlate">
            <a:avLst/>
          </a:prstGeom>
          <a:solidFill>
            <a:srgbClr val="81202C"/>
          </a:solidFill>
          <a:ln>
            <a:solidFill>
              <a:srgbClr val="18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22408" y="4654296"/>
            <a:ext cx="1417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Georgia"/>
              </a:defRPr>
            </a:pPr>
            <a:r>
              <a:t>IILM</a:t>
            </a:r>
          </a:p>
          <a:p>
            <a:pPr>
              <a:defRPr sz="750">
                <a:solidFill>
                  <a:srgbClr val="DCE1EB"/>
                </a:solidFill>
                <a:latin typeface="Georgia"/>
              </a:defRPr>
            </a:pPr>
            <a:r>
              <a:t>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